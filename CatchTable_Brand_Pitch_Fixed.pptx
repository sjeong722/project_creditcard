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66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327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400" b="1">
                <a:solidFill>
                  <a:srgbClr val="FF6600"/>
                </a:solidFill>
              </a:defRPr>
            </a:pPr>
            <a:r>
              <a:t>CARD &amp; CATCH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0292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2026.01.26 | 웅진XSPOONS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6600"/>
                </a:solidFill>
              </a:defRPr>
            </a:pPr>
            <a: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50000"/>
              </a:lnSpc>
              <a:defRPr sz="2400">
                <a:solidFill>
                  <a:srgbClr val="333333"/>
                </a:solidFill>
              </a:defRPr>
            </a:pPr>
            <a:r>
              <a:t>1. 프로젝트 개요</a:t>
            </a:r>
            <a:br/>
            <a:r>
              <a:t>2. Step 1: 소셜 데이터</a:t>
            </a:r>
            <a:br/>
            <a:r>
              <a:t>3. Step 2: 커버리지 검증</a:t>
            </a:r>
            <a:br/>
            <a:r>
              <a:t>4. Step 3: 갭 도출</a:t>
            </a:r>
            <a:br/>
            <a:r>
              <a:t>5. STP 전략</a:t>
            </a:r>
            <a:br/>
            <a:r>
              <a:t>6. 마케팅 믹스 4P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6600"/>
                </a:solidFill>
              </a:defRPr>
            </a:pPr>
            <a:r>
              <a:t>프로젝트 개요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09728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50000"/>
              </a:lnSpc>
              <a:defRPr sz="1800">
                <a:solidFill>
                  <a:srgbClr val="333333"/>
                </a:solidFill>
              </a:defRPr>
            </a:pPr>
            <a:r>
              <a:t>• What: 데이터 기반 신용카드 상품 기획</a:t>
            </a:r>
            <a:br/>
            <a:r>
              <a:t>• Why: 시장 니즈와 캐치테이블 유저 데이터 결합</a:t>
            </a:r>
            <a:br/>
            <a:r>
              <a:t>• How: 3단계 데이터 분석 프로세스 적용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6600"/>
                </a:solidFill>
              </a:defRPr>
            </a:pPr>
            <a:r>
              <a:t>Step 1: 소셜 데이터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09728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50000"/>
              </a:lnSpc>
              <a:defRPr sz="1800">
                <a:solidFill>
                  <a:srgbClr val="333333"/>
                </a:solidFill>
              </a:defRPr>
            </a:pPr>
            <a:r>
              <a:t>• 키워드 TOP 10 분석</a:t>
            </a:r>
            <a:br/>
            <a:r>
              <a:t>• 맛집 탐방 트렌드 및 연관 키워드 도출</a:t>
            </a:r>
            <a:br/>
            <a:r>
              <a:t>• 2030 세대의 소비 패턴 파악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6600"/>
                </a:solidFill>
              </a:defRPr>
            </a:pPr>
            <a:r>
              <a:t>Step 2: 커버리지 검증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09728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50000"/>
              </a:lnSpc>
              <a:defRPr sz="1800">
                <a:solidFill>
                  <a:srgbClr val="333333"/>
                </a:solidFill>
              </a:defRPr>
            </a:pPr>
            <a:r>
              <a:t>• 시중 30개 주요 신용카드 혜택 분석</a:t>
            </a:r>
            <a:br/>
            <a:r>
              <a:t>• 외식/다이닝 카테고리 혜택 비교</a:t>
            </a:r>
            <a:br/>
            <a:r>
              <a:t>• 기존 상품의 한계점 식별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6600"/>
                </a:solidFill>
              </a:defRPr>
            </a:pPr>
            <a:r>
              <a:t>Step 3: 갭 도출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09728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50000"/>
              </a:lnSpc>
              <a:defRPr sz="1800">
                <a:solidFill>
                  <a:srgbClr val="333333"/>
                </a:solidFill>
              </a:defRPr>
            </a:pPr>
            <a:r>
              <a:t>• 소비자 니즈 vs 기존 혜택 간의 격차(Gap) 확인</a:t>
            </a:r>
            <a:br/>
            <a:r>
              <a:t>• '흑백 카드' 컨셉 도출: 프리미엄 vs 대중성</a:t>
            </a:r>
            <a:br/>
            <a:r>
              <a:t>• 차별화 포인트 설정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6600"/>
                </a:solidFill>
              </a:defRPr>
            </a:pPr>
            <a:r>
              <a:t>STP 전략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09728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50000"/>
              </a:lnSpc>
              <a:defRPr sz="1800">
                <a:solidFill>
                  <a:srgbClr val="333333"/>
                </a:solidFill>
              </a:defRPr>
            </a:pPr>
            <a:r>
              <a:t>• Segmentation: 미식 고관여층 세분화</a:t>
            </a:r>
            <a:br/>
            <a:r>
              <a:t>• Targeting: 2539 직장인 미식가</a:t>
            </a:r>
            <a:br/>
            <a:r>
              <a:t>• Positioning: '예약부터 결제까지 끊김없는 경험'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6600"/>
                </a:solidFill>
              </a:defRPr>
            </a:pPr>
            <a:r>
              <a:t>마케팅 믹스 4P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09728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50000"/>
              </a:lnSpc>
              <a:defRPr sz="1800">
                <a:solidFill>
                  <a:srgbClr val="333333"/>
                </a:solidFill>
              </a:defRPr>
            </a:pPr>
            <a:r>
              <a:t>• Product: 캐치테이블 제휴 특화 카드</a:t>
            </a:r>
            <a:br/>
            <a:r>
              <a:t>• Price: 연회비 및 리워드 구조 설계</a:t>
            </a:r>
            <a:br/>
            <a:r>
              <a:t>• Place: 앱 내 신청 프로세스 최적화</a:t>
            </a:r>
            <a:br/>
            <a:r>
              <a:t>• Promotion: 런칭 프로모션 및 팝업 이벤트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6600"/>
                </a:solidFill>
              </a:defRPr>
            </a:pPr>
            <a:r>
              <a:t>디지털 마케팅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09728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50000"/>
              </a:lnSpc>
              <a:defRPr sz="1800">
                <a:solidFill>
                  <a:srgbClr val="333333"/>
                </a:solidFill>
              </a:defRPr>
            </a:pPr>
            <a:r>
              <a:t>• 콘텐츠 마케팅: 미식 가이드 발행</a:t>
            </a:r>
            <a:br/>
            <a:r>
              <a:t>• SEO 전략: '맛집 카드' 검색어 점유</a:t>
            </a:r>
            <a:br/>
            <a:r>
              <a:t>• 인플루언서 협업: 다이닝 경험 공유 캠페인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6600"/>
                </a:solidFill>
              </a:defRPr>
            </a:pPr>
            <a:r>
              <a:t>브랜드 전략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09728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50000"/>
              </a:lnSpc>
              <a:defRPr sz="1800">
                <a:solidFill>
                  <a:srgbClr val="333333"/>
                </a:solidFill>
              </a:defRPr>
            </a:pPr>
            <a:r>
              <a:t>• 브랜드 아이덴티티: Modern &amp; Premium Orange</a:t>
            </a:r>
            <a:br/>
            <a:r>
              <a:t>• Customer Journey Map 설계</a:t>
            </a:r>
            <a:br/>
            <a:r>
              <a:t>• 터치포인트별 브랜드 경험 일관성 유지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6600"/>
                </a:solidFill>
              </a:defRPr>
            </a:pPr>
            <a:r>
              <a:t>마케팅 실행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09728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50000"/>
              </a:lnSpc>
              <a:defRPr sz="1800">
                <a:solidFill>
                  <a:srgbClr val="333333"/>
                </a:solidFill>
              </a:defRPr>
            </a:pPr>
            <a:r>
              <a:t>• Phase 1: 인지도 확보 (런칭 1개월)</a:t>
            </a:r>
            <a:br/>
            <a:r>
              <a:t>• Phase 2: 가입 유도 (런칭 2~3개월)</a:t>
            </a:r>
            <a:br/>
            <a:r>
              <a:t>• Phase 3: 사용 활성화</a:t>
            </a:r>
            <a:br/>
            <a:r>
              <a:t>• Phase 4: 충성도 강화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66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데이터 기반 신용카드 상품 기획 프로젝트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